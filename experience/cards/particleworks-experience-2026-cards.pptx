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Developer keynote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What's New in Particleworks 9.0 and Granuleworks 4.0</a:t>
            </a:r>
          </a:p>
        </p:txBody>
      </p:sp>
      <p:pic>
        <p:nvPicPr>
          <p:cNvPr id="9" name="Picture 8" descr="av_iori-sa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55930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PROMETECH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60502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Issei Masaie · Iori Saigo</a:t>
            </a:r>
          </a:p>
        </p:txBody>
      </p:sp>
      <p:pic>
        <p:nvPicPr>
          <p:cNvPr id="12" name="Picture 11" descr="experienc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Industrial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Simulation of Shot Peening: A CFD-DEM Coupled Case Study</a:t>
            </a:r>
          </a:p>
        </p:txBody>
      </p:sp>
      <p:pic>
        <p:nvPicPr>
          <p:cNvPr id="9" name="Picture 8" descr="av_alpcan-gu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55930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MTU AERO ENGINES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60502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Alpcan Güray</a:t>
            </a:r>
          </a:p>
        </p:txBody>
      </p:sp>
      <p:pic>
        <p:nvPicPr>
          <p:cNvPr id="12" name="Picture 11" descr="experienc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Academic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An Integrated Simulation Approach for Stator Oil Jacket and Jet Cooling Systems</a:t>
            </a:r>
          </a:p>
        </p:txBody>
      </p:sp>
      <p:pic>
        <p:nvPicPr>
          <p:cNvPr id="9" name="Picture 8" descr="av_michelangelo-raimon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55930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UNIVERSITY OF MODENA AND REGGIO EMILIA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60502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Michelangelo Raimondo</a:t>
            </a:r>
          </a:p>
        </p:txBody>
      </p:sp>
      <p:pic>
        <p:nvPicPr>
          <p:cNvPr id="12" name="Picture 11" descr="experienc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Industrial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CHT Analysis of a Reciprocating Pump</a:t>
            </a:r>
          </a:p>
        </p:txBody>
      </p:sp>
      <p:pic>
        <p:nvPicPr>
          <p:cNvPr id="9" name="Picture 8" descr="av_leonardo-lancio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55930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R&amp;D CFD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60502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Leonardo Lanciotti</a:t>
            </a:r>
          </a:p>
        </p:txBody>
      </p:sp>
      <p:pic>
        <p:nvPicPr>
          <p:cNvPr id="12" name="Picture 11" descr="experienc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Academic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Moving Particle Simulation of Eroded Pelton Runners</a:t>
            </a:r>
          </a:p>
        </p:txBody>
      </p:sp>
      <p:pic>
        <p:nvPicPr>
          <p:cNvPr id="9" name="Picture 8" descr="av_jean-deca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55930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HES-SO VALAIS//WALLIS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60502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Jean Decaix</a:t>
            </a:r>
          </a:p>
        </p:txBody>
      </p:sp>
      <p:pic>
        <p:nvPicPr>
          <p:cNvPr id="12" name="Picture 11" descr="experienc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Industrial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20" b="1">
                <a:solidFill>
                  <a:srgbClr val="FFFFFF"/>
                </a:solidFill>
                <a:latin typeface="Officina Sans Bold"/>
              </a:rPr>
              <a:t>Integrating Particleworks into SKF Engineering Tools: Part I — Verification of Heat Transfer Coefficient</a:t>
            </a:r>
          </a:p>
        </p:txBody>
      </p:sp>
      <p:pic>
        <p:nvPicPr>
          <p:cNvPr id="9" name="Picture 8" descr="sim_sk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620" y="4495800"/>
            <a:ext cx="3116580" cy="2621280"/>
          </a:xfrm>
          <a:prstGeom prst="rect">
            <a:avLst/>
          </a:prstGeom>
        </p:spPr>
      </p:pic>
      <p:pic>
        <p:nvPicPr>
          <p:cNvPr id="10" name="Picture 9" descr="av_lijun-c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28900" y="5593080"/>
            <a:ext cx="256032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SKF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900" y="6050280"/>
            <a:ext cx="256032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Lijun Cao</a:t>
            </a:r>
          </a:p>
        </p:txBody>
      </p:sp>
      <p:pic>
        <p:nvPicPr>
          <p:cNvPr id="13" name="Picture 12" descr="experien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Industrial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Direct Optical Air-in-Oil Measurement for Gearings and Hydraulic Systems</a:t>
            </a:r>
          </a:p>
        </p:txBody>
      </p:sp>
      <p:pic>
        <p:nvPicPr>
          <p:cNvPr id="9" name="Picture 8" descr="sim_deepflu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620" y="4495800"/>
            <a:ext cx="3116580" cy="2621280"/>
          </a:xfrm>
          <a:prstGeom prst="rect">
            <a:avLst/>
          </a:prstGeom>
        </p:spPr>
      </p:pic>
      <p:pic>
        <p:nvPicPr>
          <p:cNvPr id="10" name="Picture 9" descr="av_lukas-haf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28900" y="5593080"/>
            <a:ext cx="256032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DEEPFLUID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900" y="6050280"/>
            <a:ext cx="256032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79" b="1">
                <a:solidFill>
                  <a:srgbClr val="34D27C"/>
                </a:solidFill>
                <a:latin typeface="Officina Sans Bold"/>
              </a:rPr>
              <a:t>Dr. Lukas Hafner</a:t>
            </a:r>
          </a:p>
        </p:txBody>
      </p:sp>
      <p:pic>
        <p:nvPicPr>
          <p:cNvPr id="13" name="Picture 12" descr="experien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Industrial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Study of the Lubrication on Carrier Roller using a CFD 3D-MPS Method</a:t>
            </a:r>
          </a:p>
        </p:txBody>
      </p:sp>
      <p:pic>
        <p:nvPicPr>
          <p:cNvPr id="9" name="Picture 8" descr="av_leonardo-tibe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55930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TRACK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60502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Leonardo Tiberi</a:t>
            </a:r>
          </a:p>
        </p:txBody>
      </p:sp>
      <p:pic>
        <p:nvPicPr>
          <p:cNvPr id="12" name="Picture 11" descr="experienc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Industrial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20" b="1">
                <a:solidFill>
                  <a:srgbClr val="FFFFFF"/>
                </a:solidFill>
                <a:latin typeface="Officina Sans Bold"/>
              </a:rPr>
              <a:t>Application of Particleworks to Gear Lubrication Analysis and Its Expansion to R&amp;D on Airflow Effects</a:t>
            </a:r>
          </a:p>
        </p:txBody>
      </p:sp>
      <p:pic>
        <p:nvPicPr>
          <p:cNvPr id="9" name="Picture 8" descr="sim_univ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620" y="4495800"/>
            <a:ext cx="3116580" cy="2621280"/>
          </a:xfrm>
          <a:prstGeom prst="rect">
            <a:avLst/>
          </a:prstGeom>
        </p:spPr>
      </p:pic>
      <p:pic>
        <p:nvPicPr>
          <p:cNvPr id="10" name="Picture 9" descr="av_naohiro-fuj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28900" y="5593080"/>
            <a:ext cx="256032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FFFFFF"/>
                </a:solidFill>
                <a:latin typeface="Officina Sans Bold"/>
              </a:rPr>
              <a:t>UNIVANCE CORPORATION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900" y="6050280"/>
            <a:ext cx="256032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79" b="1">
                <a:solidFill>
                  <a:srgbClr val="34D27C"/>
                </a:solidFill>
                <a:latin typeface="Officina Sans Bold"/>
              </a:rPr>
              <a:t>Naohiro Fujita</a:t>
            </a:r>
          </a:p>
        </p:txBody>
      </p:sp>
      <p:pic>
        <p:nvPicPr>
          <p:cNvPr id="13" name="Picture 12" descr="experienc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228600"/>
            <a:ext cx="8686800" cy="8686800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8412480" cy="8412480"/>
          </a:xfrm>
          <a:prstGeom prst="rect">
            <a:avLst/>
          </a:prstGeom>
          <a:noFill/>
          <a:ln w="38100">
            <a:solidFill>
              <a:srgbClr val="34D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5320"/>
            <a:ext cx="5943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655320"/>
            <a:ext cx="3962399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20" b="1">
                <a:solidFill>
                  <a:srgbClr val="FFFFFF"/>
                </a:solidFill>
                <a:latin typeface="Officina Sans Bold"/>
              </a:rPr>
              <a:t>October 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6800"/>
            <a:ext cx="3962399" cy="25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60" b="1">
                <a:solidFill>
                  <a:srgbClr val="FFE0D8"/>
                </a:solidFill>
                <a:latin typeface="Officina Sans Bold"/>
              </a:rPr>
              <a:t>Industrial 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3560"/>
            <a:ext cx="7772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fficina Sans Bold"/>
              </a:rPr>
              <a:t>From Formation to Dissolution: Air Bubble Dynamics in Gear Oil of an Electric 3-Speed Drivetrain</a:t>
            </a:r>
          </a:p>
        </p:txBody>
      </p:sp>
      <p:pic>
        <p:nvPicPr>
          <p:cNvPr id="9" name="Picture 8" descr="av_rene-kockis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349240"/>
            <a:ext cx="1592580" cy="1592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8900" y="55930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Officina Sans Bold"/>
              </a:rPr>
              <a:t>IAV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6050280"/>
            <a:ext cx="5829300" cy="556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4D27C"/>
                </a:solidFill>
                <a:latin typeface="Officina Sans Bold"/>
              </a:rPr>
              <a:t>René Kockisch</a:t>
            </a:r>
          </a:p>
        </p:txBody>
      </p:sp>
      <p:pic>
        <p:nvPicPr>
          <p:cNvPr id="12" name="Picture 11" descr="experienc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688580"/>
            <a:ext cx="2651760" cy="94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99" y="7772400"/>
            <a:ext cx="4267200" cy="4952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179" b="1">
                <a:solidFill>
                  <a:srgbClr val="FFFFFF"/>
                </a:solidFill>
                <a:latin typeface="Officina Sans Bold"/>
              </a:rPr>
              <a:t>Modena, Italy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99" y="8168640"/>
            <a:ext cx="4267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80" b="1">
                <a:solidFill>
                  <a:srgbClr val="FFD9CF"/>
                </a:solidFill>
                <a:latin typeface="Officina Sans Bold"/>
              </a:rPr>
              <a:t>BPER FORUM Monzani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