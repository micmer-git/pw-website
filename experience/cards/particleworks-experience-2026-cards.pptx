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Developer keynote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1040" y="1539240"/>
            <a:ext cx="6858000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20" b="1">
                <a:solidFill>
                  <a:srgbClr val="FFE0D8"/>
                </a:solidFill>
                <a:latin typeface="Officina Sans Bold"/>
              </a:rPr>
              <a:t>PART 1 · SOFTWARE RELEASE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44040"/>
            <a:ext cx="7772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79" b="1">
                <a:solidFill>
                  <a:srgbClr val="FFFFFF"/>
                </a:solidFill>
                <a:latin typeface="Officina Sans Bold"/>
              </a:rPr>
              <a:t>What's New in Particleworks 9.0 &amp; Granuleworks 4.0</a:t>
            </a:r>
          </a:p>
        </p:txBody>
      </p:sp>
      <p:pic>
        <p:nvPicPr>
          <p:cNvPr id="10" name="Picture 9" descr="av_I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040" y="3078480"/>
            <a:ext cx="701040" cy="701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54480" y="3124200"/>
            <a:ext cx="2743200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Officina Sans Bold"/>
              </a:rPr>
              <a:t>Issei Masaie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74720"/>
            <a:ext cx="67056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D9CF"/>
                </a:solidFill>
                <a:latin typeface="Officina Sans Bold"/>
              </a:rPr>
              <a:t>General Manager · Prometech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040" y="4267200"/>
            <a:ext cx="6858000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20" b="1">
                <a:solidFill>
                  <a:srgbClr val="FFE0D8"/>
                </a:solidFill>
                <a:latin typeface="Officina Sans Bold"/>
              </a:rPr>
              <a:t>PART 2 ·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572000"/>
            <a:ext cx="7772400" cy="655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960" b="1">
                <a:solidFill>
                  <a:srgbClr val="34D27C"/>
                </a:solidFill>
                <a:latin typeface="Officina Sans Bold"/>
              </a:rPr>
              <a:t>Application Examples &amp; Case Studies</a:t>
            </a:r>
          </a:p>
        </p:txBody>
      </p:sp>
      <p:pic>
        <p:nvPicPr>
          <p:cNvPr id="15" name="Picture 14" descr="av_iori-sai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040" y="5273040"/>
            <a:ext cx="701040" cy="701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54480" y="5318760"/>
            <a:ext cx="2743200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Officina Sans Bold"/>
              </a:rPr>
              <a:t>Iori Saigo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669280"/>
            <a:ext cx="67056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D9CF"/>
                </a:solidFill>
                <a:latin typeface="Officina Sans Bold"/>
              </a:rPr>
              <a:t>Application Engineer · Prometech Software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1040" y="3992879"/>
            <a:ext cx="1066800" cy="45720"/>
          </a:xfrm>
          <a:prstGeom prst="rect">
            <a:avLst/>
          </a:prstGeom>
          <a:solidFill>
            <a:srgbClr val="34D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perience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Simulation of Shot Peening: A CFD-DEM Coupled Case Study</a:t>
            </a:r>
          </a:p>
        </p:txBody>
      </p:sp>
      <p:pic>
        <p:nvPicPr>
          <p:cNvPr id="9" name="Picture 8" descr="av_alpcan-gur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MTU AERO ENGINES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Alpcan Güray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Academic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An Integrated Simulation Approach for Stator Oil Jacket and Jet Cooling Systems</a:t>
            </a:r>
          </a:p>
        </p:txBody>
      </p:sp>
      <p:pic>
        <p:nvPicPr>
          <p:cNvPr id="9" name="Picture 8" descr="av_michelangelo-raimon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UNIVERSITY OF MODENA AND REGGIO EMILIA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Michelangelo Raimondo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CHT Analysis of a Reciprocating Pump</a:t>
            </a:r>
          </a:p>
        </p:txBody>
      </p:sp>
      <p:pic>
        <p:nvPicPr>
          <p:cNvPr id="9" name="Picture 8" descr="av_leonardo-lanciott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R&amp;D CFD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Leonardo Lanciotti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Academic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Moving Particle Simulation of Eroded Pelton Runners</a:t>
            </a:r>
          </a:p>
        </p:txBody>
      </p:sp>
      <p:pic>
        <p:nvPicPr>
          <p:cNvPr id="9" name="Picture 8" descr="av_jean-deca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HES-SO VALAIS//WALLIS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Jean Decaix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320" b="1">
                <a:solidFill>
                  <a:srgbClr val="FFFFFF"/>
                </a:solidFill>
                <a:latin typeface="Officina Sans Bold"/>
              </a:rPr>
              <a:t>Integrating Particleworks into SKF Engineering Tools: Part I — Verification of Heat Transfer Coefficient</a:t>
            </a:r>
          </a:p>
        </p:txBody>
      </p:sp>
      <p:pic>
        <p:nvPicPr>
          <p:cNvPr id="9" name="Picture 8" descr="sim_sk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1620" y="4495800"/>
            <a:ext cx="3116580" cy="2621280"/>
          </a:xfrm>
          <a:prstGeom prst="rect">
            <a:avLst/>
          </a:prstGeom>
        </p:spPr>
      </p:pic>
      <p:pic>
        <p:nvPicPr>
          <p:cNvPr id="10" name="Picture 9" descr="av_lijun-ca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28900" y="55930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SKF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60502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Lijun Cao</a:t>
            </a:r>
          </a:p>
        </p:txBody>
      </p:sp>
      <p:pic>
        <p:nvPicPr>
          <p:cNvPr id="13" name="Picture 12" descr="experience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Direct Optical Air-in-Oil Measurement for Gearings and Hydraulic Systems</a:t>
            </a:r>
          </a:p>
        </p:txBody>
      </p:sp>
      <p:pic>
        <p:nvPicPr>
          <p:cNvPr id="9" name="Picture 8" descr="sim_deepfl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1620" y="4495800"/>
            <a:ext cx="3116580" cy="2621280"/>
          </a:xfrm>
          <a:prstGeom prst="rect">
            <a:avLst/>
          </a:prstGeom>
        </p:spPr>
      </p:pic>
      <p:pic>
        <p:nvPicPr>
          <p:cNvPr id="10" name="Picture 9" descr="av_lukas-haf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28900" y="55930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DEEPFLUID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60502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79" b="1">
                <a:solidFill>
                  <a:srgbClr val="34D27C"/>
                </a:solidFill>
                <a:latin typeface="Officina Sans Bold"/>
              </a:rPr>
              <a:t>Dr. Lukas Hafner</a:t>
            </a:r>
          </a:p>
        </p:txBody>
      </p:sp>
      <p:pic>
        <p:nvPicPr>
          <p:cNvPr id="13" name="Picture 12" descr="experience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Study of the Lubrication on Carrier Roller using a CFD 3D-MPS Method</a:t>
            </a:r>
          </a:p>
        </p:txBody>
      </p:sp>
      <p:pic>
        <p:nvPicPr>
          <p:cNvPr id="9" name="Picture 8" descr="av_leonardo-tiber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TRACK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Leonardo Tiberi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320" b="1">
                <a:solidFill>
                  <a:srgbClr val="FFFFFF"/>
                </a:solidFill>
                <a:latin typeface="Officina Sans Bold"/>
              </a:rPr>
              <a:t>Application of Particleworks to Gear Lubrication Analysis and Its Expansion to R&amp;D on Airflow Effects</a:t>
            </a:r>
          </a:p>
        </p:txBody>
      </p:sp>
      <p:pic>
        <p:nvPicPr>
          <p:cNvPr id="9" name="Picture 8" descr="sim_univ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1620" y="4495800"/>
            <a:ext cx="3116580" cy="2621280"/>
          </a:xfrm>
          <a:prstGeom prst="rect">
            <a:avLst/>
          </a:prstGeom>
        </p:spPr>
      </p:pic>
      <p:pic>
        <p:nvPicPr>
          <p:cNvPr id="10" name="Picture 9" descr="av_naohiro-fuji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28900" y="55930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39" b="1">
                <a:solidFill>
                  <a:srgbClr val="FFFFFF"/>
                </a:solidFill>
                <a:latin typeface="Officina Sans Bold"/>
              </a:rPr>
              <a:t>UNIVANCE CORPORATION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60502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79" b="1">
                <a:solidFill>
                  <a:srgbClr val="34D27C"/>
                </a:solidFill>
                <a:latin typeface="Officina Sans Bold"/>
              </a:rPr>
              <a:t>Naohiro Fujita</a:t>
            </a:r>
          </a:p>
        </p:txBody>
      </p:sp>
      <p:pic>
        <p:nvPicPr>
          <p:cNvPr id="13" name="Picture 12" descr="experience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From Formation to Dissolution: Air Bubble Dynamics in Gear Oil of an Electric 3-Speed Drivetrain</a:t>
            </a:r>
          </a:p>
        </p:txBody>
      </p:sp>
      <p:pic>
        <p:nvPicPr>
          <p:cNvPr id="9" name="Picture 8" descr="av_rene-kockis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IAV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René Kockisch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